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SECURE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4008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6400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CDDCEB"/>
                </a:solidFill>
                <a:latin typeface="Aptos"/>
              </a:rPr>
              <a:t>Network Design &amp; Security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400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Presented by: Manisha Chaudhari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34440"/>
            <a:ext cx="2651760" cy="3108960"/>
          </a:xfrm>
          <a:prstGeom prst="roundRect">
            <a:avLst/>
          </a:prstGeom>
          <a:solidFill>
            <a:srgbClr val="18375C"/>
          </a:solidFill>
          <a:ln>
            <a:solidFill>
              <a:srgbClr val="376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572768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8C96"/>
                </a:solidFill>
                <a:latin typeface="Aptos"/>
              </a:rPr>
              <a:t>SECURE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20240"/>
            <a:ext cx="2011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BANK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788920"/>
            <a:ext cx="347472" cy="347472"/>
          </a:xfrm>
          <a:prstGeom prst="round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38360" y="2788920"/>
            <a:ext cx="347472" cy="347472"/>
          </a:xfrm>
          <a:prstGeom prst="round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23960" y="3246120"/>
            <a:ext cx="347472" cy="347472"/>
          </a:xfrm>
          <a:prstGeom prst="round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38360" y="3246120"/>
            <a:ext cx="347472" cy="347472"/>
          </a:xfrm>
          <a:prstGeom prst="round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23960" y="3703320"/>
            <a:ext cx="347472" cy="347472"/>
          </a:xfrm>
          <a:prstGeom prst="round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38360" y="3703320"/>
            <a:ext cx="347472" cy="347472"/>
          </a:xfrm>
          <a:prstGeom prst="round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382512"/>
            <a:ext cx="104241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Confidentiality  •  Integrity  •  Availability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A layered network design for a secure banking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874519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5B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563624"/>
            <a:ext cx="25786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Secure Banking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94639"/>
            <a:ext cx="2825496" cy="5770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Design a secure and reliable network that protects customer data, transactions, servers, and internal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64008" cy="1874519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8C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563624"/>
            <a:ext cx="25786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Controlled 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75430"/>
            <a:ext cx="301752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Connect departments safely using segmentation, access control, and clearly defined traffic paths.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417320"/>
            <a:ext cx="64008" cy="1874519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966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563624"/>
            <a:ext cx="257860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Reliable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2294639"/>
            <a:ext cx="2993137" cy="57708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Support critical banking applications while maintaining availability and simplifying troubleshooting.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94760"/>
            <a:ext cx="21031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F2341"/>
                </a:solidFill>
                <a:latin typeface="Aptos"/>
              </a:rPr>
              <a:t>Core design principle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87952"/>
            <a:ext cx="10835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70832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08C96"/>
                </a:solidFill>
                <a:latin typeface="Aptos"/>
              </a:rPr>
              <a:t>Defense in 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345739"/>
            <a:ext cx="8229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232D3A"/>
                </a:solidFill>
                <a:latin typeface="Aptos"/>
              </a:rPr>
              <a:t>Use multiple security layers—segmentation, ACLs, controlled server access, and monitoring—so one failure does not expose the entire network.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The security goals guiding the proposed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60020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5B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563624"/>
            <a:ext cx="41330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Confidentiality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11680"/>
            <a:ext cx="45720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Protect sensitive banking and customer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60020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8C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563624"/>
            <a:ext cx="41330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11680"/>
            <a:ext cx="45720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Prevent unauthorized changes to data and transactions.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64008" cy="1600200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966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621024"/>
            <a:ext cx="41330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069080"/>
            <a:ext cx="45720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Keep critical banking services accessible and reliable.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4747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474720"/>
            <a:ext cx="64008" cy="1600200"/>
          </a:xfrm>
          <a:prstGeom prst="rect">
            <a:avLst/>
          </a:prstGeom>
          <a:solidFill>
            <a:srgbClr val="E0AA37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E0AA3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3621024"/>
            <a:ext cx="41330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069080"/>
            <a:ext cx="45720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Detect suspicious activity and support quick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10561320" cy="502920"/>
          </a:xfrm>
          <a:prstGeom prst="round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596128"/>
            <a:ext cx="10195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Security objective: allow business traffic while blocking unnecessary or unauthorized access.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High-level traffic path from external connectivity to protected internal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56816"/>
            <a:ext cx="1746504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195B96"/>
                </a:solidFill>
                <a:latin typeface="Aptos"/>
              </a:rPr>
              <a:t>Internet / WAN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0088" y="1956816"/>
            <a:ext cx="1746504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008C96"/>
                </a:solidFill>
                <a:latin typeface="Aptos"/>
              </a:rPr>
              <a:t>Edge Router + ACL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76088" y="1956816"/>
            <a:ext cx="1746504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0F2341"/>
                </a:solidFill>
                <a:latin typeface="Aptos"/>
              </a:rPr>
              <a:t>Core Network + VLANs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32588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7" y="1453895"/>
            <a:ext cx="1746504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26966E"/>
                </a:solidFill>
                <a:latin typeface="Aptos"/>
              </a:rPr>
              <a:t>Application / Web Servers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971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7" y="3099816"/>
            <a:ext cx="1746504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E0AA37"/>
                </a:solidFill>
                <a:latin typeface="Aptos"/>
              </a:rPr>
              <a:t>Database / Admin / Users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2240280"/>
            <a:ext cx="18288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46320" y="2240280"/>
            <a:ext cx="32004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1737360"/>
            <a:ext cx="50292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32320" y="3383280"/>
            <a:ext cx="50292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42519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251960"/>
            <a:ext cx="64008" cy="114300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1" y="4398264"/>
            <a:ext cx="27614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4844311"/>
            <a:ext cx="2615184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Connects different networks and applies controlled routing/ACL policies.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2519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80" y="4251960"/>
            <a:ext cx="64008" cy="114300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4398264"/>
            <a:ext cx="27614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Switches + VLANs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844311"/>
            <a:ext cx="263347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Separate departments into logical security zones.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425196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18120" y="4251960"/>
            <a:ext cx="64008" cy="1143000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74152" y="4398264"/>
            <a:ext cx="27614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Servers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4844311"/>
            <a:ext cx="2679192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Provide application services and store protected banking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Main 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Key components and their role in the secure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64592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5B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563624"/>
            <a:ext cx="42245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11680"/>
            <a:ext cx="46634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Connects different networks and controls traffic between network segments.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64592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636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8C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563624"/>
            <a:ext cx="42245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Switches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11680"/>
            <a:ext cx="46634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Connect users and devices and provide VLAN-based segmentation.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474720"/>
            <a:ext cx="64008" cy="1645920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966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621024"/>
            <a:ext cx="42245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Application / Web Servers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069080"/>
            <a:ext cx="46634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Host banking applications and services that users are authorized to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474720"/>
            <a:ext cx="51663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474720"/>
            <a:ext cx="64008" cy="1645920"/>
          </a:xfrm>
          <a:prstGeom prst="rect">
            <a:avLst/>
          </a:prstGeom>
          <a:solidFill>
            <a:srgbClr val="E0AA37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E0AA3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3621024"/>
            <a:ext cx="42245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Database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318531"/>
            <a:ext cx="4599432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Stores sensitive banking information and should be reachable only by authorized application/admin traffic.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32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VLAN &amp; Network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Separate business functions to reduce unnecessary lateral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871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2487168" cy="128016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95B96"/>
                </a:solidFill>
                <a:latin typeface="Aptos"/>
              </a:rPr>
              <a:t>VLAN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2103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F2341"/>
                </a:solidFill>
                <a:latin typeface="Aptos"/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4684"/>
            <a:ext cx="202996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5F6C7B"/>
                </a:solidFill>
                <a:latin typeface="Aptos"/>
              </a:rPr>
              <a:t>Employee workstations and office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4871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417320"/>
            <a:ext cx="2487168" cy="128016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75564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08C96"/>
                </a:solidFill>
                <a:latin typeface="Aptos"/>
              </a:rPr>
              <a:t>VLAN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12848"/>
            <a:ext cx="2103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F2341"/>
                </a:solidFill>
                <a:latin typeface="Aptos"/>
              </a:rPr>
              <a:t>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94684"/>
            <a:ext cx="202996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5F6C7B"/>
                </a:solidFill>
                <a:latin typeface="Aptos"/>
              </a:rPr>
              <a:t>Finance-related workstations and devices.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4871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2487168" cy="128016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75564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6966E"/>
                </a:solidFill>
                <a:latin typeface="Aptos"/>
              </a:rPr>
              <a:t>VLAN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12848"/>
            <a:ext cx="2103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F2341"/>
                </a:solidFill>
                <a:latin typeface="Aptos"/>
              </a:rPr>
              <a:t>Customer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94684"/>
            <a:ext cx="1904508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5F6C7B"/>
                </a:solidFill>
                <a:latin typeface="Aptos"/>
              </a:rPr>
              <a:t>Customer service workstations and devices.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1417320"/>
            <a:ext cx="2487168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59" y="1417320"/>
            <a:ext cx="2487168" cy="128016"/>
          </a:xfrm>
          <a:prstGeom prst="rect">
            <a:avLst/>
          </a:prstGeom>
          <a:solidFill>
            <a:srgbClr val="E0AA37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39" y="1755648"/>
            <a:ext cx="2103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0AA37"/>
                </a:solidFill>
                <a:latin typeface="Aptos"/>
              </a:rPr>
              <a:t>VLAN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212848"/>
            <a:ext cx="2103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F2341"/>
                </a:solidFill>
                <a:latin typeface="Aptos"/>
              </a:rPr>
              <a:t>IT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094684"/>
            <a:ext cx="193852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dirty="0">
                <a:solidFill>
                  <a:srgbClr val="5F6C7B"/>
                </a:solidFill>
                <a:latin typeface="Aptos"/>
              </a:rPr>
              <a:t>Network devices and administrator access.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74920"/>
            <a:ext cx="10561320" cy="640080"/>
          </a:xfrm>
          <a:prstGeom prst="round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175504"/>
            <a:ext cx="101041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Benefit: a compromised device in one department is less likely to directly reach other sensitive zones.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Secure Traffic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Only authorized traffic should move between security zones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2340864"/>
            <a:ext cx="145389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195B96"/>
                </a:solidFill>
                <a:latin typeface="Aptos"/>
              </a:rPr>
              <a:t>User /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1945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3512" y="2340864"/>
            <a:ext cx="145389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08C96"/>
                </a:solidFill>
                <a:latin typeface="Aptos"/>
              </a:rPr>
              <a:t>ACL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1945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9512" y="2340864"/>
            <a:ext cx="145389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6966E"/>
                </a:solidFill>
                <a:latin typeface="Aptos"/>
              </a:rPr>
              <a:t>Application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945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2" y="2340864"/>
            <a:ext cx="145389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0AA37"/>
                </a:solidFill>
                <a:latin typeface="Aptos"/>
              </a:rPr>
              <a:t>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19456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2952" y="2340864"/>
            <a:ext cx="145389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F2341"/>
                </a:solidFill>
                <a:latin typeface="Aptos"/>
              </a:rPr>
              <a:t>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2606040"/>
            <a:ext cx="50292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26280" y="2606040"/>
            <a:ext cx="50292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69480" y="2606040"/>
            <a:ext cx="50292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64040" y="2606040"/>
            <a:ext cx="502920" cy="0"/>
          </a:xfrm>
          <a:prstGeom prst="line">
            <a:avLst/>
          </a:prstGeom>
          <a:ln w="25400">
            <a:solidFill>
              <a:srgbClr val="00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F2341"/>
                </a:solidFill>
                <a:latin typeface="Aptos"/>
              </a:rPr>
              <a:t>Request → policy check → application processing → protected data access →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00600"/>
            <a:ext cx="3108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" y="4800600"/>
            <a:ext cx="64008" cy="100584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946904"/>
            <a:ext cx="26243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ACL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5394960"/>
            <a:ext cx="260603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Allow only required source/destination traffic.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800600"/>
            <a:ext cx="3108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26280" y="4800600"/>
            <a:ext cx="64008" cy="100584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4946904"/>
            <a:ext cx="26243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3" y="5319800"/>
            <a:ext cx="2487168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Keep users, servers, and admin access separated.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800600"/>
            <a:ext cx="3108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4800600"/>
            <a:ext cx="64008" cy="1005840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4946904"/>
            <a:ext cx="262432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3" y="5319800"/>
            <a:ext cx="2509782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Review traffic and investigate unusual behavior.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Practical controls that strengthen the proposed bank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9164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7218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5B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472184"/>
            <a:ext cx="25328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92551"/>
            <a:ext cx="2826873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Use ACLs and least-privilege rules to restrict unnecessary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258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325880"/>
            <a:ext cx="64008" cy="169164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47218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8C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472184"/>
            <a:ext cx="25328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Network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192551"/>
            <a:ext cx="2794918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Keep departments and sensitive resources in separate VLANs/zones.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32588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325880"/>
            <a:ext cx="64008" cy="1691640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67928" y="147218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966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472184"/>
            <a:ext cx="25328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Secure Server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2192551"/>
            <a:ext cx="2718816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Limit database access to approved application and administrator paths.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747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474720"/>
            <a:ext cx="64008" cy="1691640"/>
          </a:xfrm>
          <a:prstGeom prst="rect">
            <a:avLst/>
          </a:prstGeom>
          <a:solidFill>
            <a:srgbClr val="E0AA37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E0AA3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621024"/>
            <a:ext cx="25328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Monitoring &amp; Logging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341391"/>
            <a:ext cx="2826873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Monitor traffic, review logs, and investigate suspicious activity.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4747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80560" y="3474720"/>
            <a:ext cx="64008" cy="169164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81728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234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621024"/>
            <a:ext cx="25328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Backup &amp;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4341391"/>
            <a:ext cx="2910842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Maintain tested backups and recovery procedures for critical services.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474720"/>
            <a:ext cx="3474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760" y="3474720"/>
            <a:ext cx="64008" cy="1691640"/>
          </a:xfrm>
          <a:prstGeom prst="rect">
            <a:avLst/>
          </a:prstGeom>
          <a:solidFill>
            <a:srgbClr val="BE4646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67928" y="362102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BE4646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3621024"/>
            <a:ext cx="253288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Change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4341391"/>
            <a:ext cx="2770632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Document configuration changes and verify them after implementation.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008C96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28600"/>
            <a:ext cx="1033272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0F2341"/>
                </a:solidFill>
                <a:latin typeface="Aptos"/>
              </a:rPr>
              <a:t>Benefits of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86384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How the architecture supports banking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1234440"/>
          </a:xfrm>
          <a:prstGeom prst="rect">
            <a:avLst/>
          </a:prstGeom>
          <a:solidFill>
            <a:srgbClr val="195B96"/>
          </a:solidFill>
          <a:ln>
            <a:solidFill>
              <a:srgbClr val="19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1790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195B9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517904"/>
            <a:ext cx="41788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Data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965960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Improved protection of customer and financial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64008" cy="1234440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151790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08C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517904"/>
            <a:ext cx="41788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Reduced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65960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Reduced impact of unauthorized access and network attacks.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64008" cy="1234440"/>
          </a:xfrm>
          <a:prstGeom prst="rect">
            <a:avLst/>
          </a:prstGeom>
          <a:solidFill>
            <a:srgbClr val="26966E"/>
          </a:solidFill>
          <a:ln>
            <a:solidFill>
              <a:srgbClr val="269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07238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26966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072384"/>
            <a:ext cx="41788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Traffic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520440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Better control of internal and external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2608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926080"/>
            <a:ext cx="64008" cy="1234440"/>
          </a:xfrm>
          <a:prstGeom prst="rect">
            <a:avLst/>
          </a:prstGeom>
          <a:solidFill>
            <a:srgbClr val="E0AA37"/>
          </a:solidFill>
          <a:ln>
            <a:solidFill>
              <a:srgbClr val="E0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07238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E0AA3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3072384"/>
            <a:ext cx="41788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520440"/>
            <a:ext cx="4617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5F6C7B"/>
                </a:solidFill>
                <a:latin typeface="Aptos"/>
              </a:rPr>
              <a:t>Architecture can grow with future banking services.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48056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4480560"/>
            <a:ext cx="64008" cy="1234440"/>
          </a:xfrm>
          <a:prstGeom prst="rect">
            <a:avLst/>
          </a:prstGeom>
          <a:solidFill>
            <a:srgbClr val="0F2341"/>
          </a:solidFill>
          <a:ln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462686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0F2341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626864"/>
            <a:ext cx="4178807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F2341"/>
                </a:solidFill>
                <a:latin typeface="Aptos"/>
              </a:rPr>
              <a:t>Troubleshooting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118631"/>
            <a:ext cx="461772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5F6C7B"/>
                </a:solidFill>
                <a:latin typeface="Aptos"/>
              </a:rPr>
              <a:t>Centralized monitoring and documented segmentation make issues easier to isolate.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486400"/>
            <a:ext cx="10607040" cy="530352"/>
          </a:xfrm>
          <a:prstGeom prst="round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59552"/>
            <a:ext cx="10241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F2341"/>
                </a:solidFill>
                <a:latin typeface="Aptos"/>
              </a:rPr>
              <a:t>Business outcome: secure access without unnecessary complexity.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08C96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65760"/>
            <a:ext cx="9875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 secure bank network requires layered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D2E1F0"/>
                </a:solidFill>
                <a:latin typeface="Aptos"/>
              </a:rPr>
              <a:t>Segmentation and access control limit unnecessary exposure.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0">
                <a:solidFill>
                  <a:srgbClr val="D2E1F0"/>
                </a:solidFill>
                <a:latin typeface="Aptos"/>
              </a:rPr>
              <a:t>The proposed design balances security, reliability, and scalability.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4251960"/>
            <a:ext cx="8275320" cy="914400"/>
          </a:xfrm>
          <a:prstGeom prst="roundRect">
            <a:avLst/>
          </a:prstGeom>
          <a:solidFill>
            <a:srgbClr val="18375C"/>
          </a:solidFill>
          <a:ln>
            <a:solidFill>
              <a:srgbClr val="376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4462272"/>
            <a:ext cx="7909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08C96"/>
                </a:solidFill>
                <a:latin typeface="Aptos"/>
              </a:rPr>
              <a:t>CONFIDENTIALITY   •   INTEGRITY   •  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C96"/>
          </a:solidFill>
          <a:ln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744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0F2341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9669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5F6C7B"/>
                </a:solidFill>
                <a:latin typeface="Aptos"/>
              </a:rPr>
              <a:t>Secure Bank Network — Network Design &amp; Security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5F6C7B"/>
                </a:solidFill>
                <a:latin typeface="Aptos"/>
              </a:rPr>
              <a:t>SECURE BANK NETWORK  •  Network Design &amp; Security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3737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5F6C7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763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MANISHA CHAUDHARI</cp:lastModifiedBy>
  <cp:revision>6</cp:revision>
  <dcterms:created xsi:type="dcterms:W3CDTF">2013-01-27T09:14:16Z</dcterms:created>
  <dcterms:modified xsi:type="dcterms:W3CDTF">2026-08-09T08:27:36Z</dcterms:modified>
  <cp:category/>
</cp:coreProperties>
</file>