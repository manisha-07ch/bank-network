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5" r:id="rId5"/>
    <p:sldId id="259" r:id="rId6"/>
    <p:sldId id="266" r:id="rId7"/>
    <p:sldId id="270" r:id="rId8"/>
    <p:sldId id="262" r:id="rId9"/>
    <p:sldId id="271" r:id="rId10"/>
    <p:sldId id="273" r:id="rId11"/>
    <p:sldId id="274" r:id="rId12"/>
    <p:sldId id="272" r:id="rId13"/>
    <p:sldId id="263" r:id="rId14"/>
    <p:sldId id="267" r:id="rId15"/>
    <p:sldId id="268" r:id="rId16"/>
    <p:sldId id="269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BB4085-3209-48CB-A339-C8D5F25EEBE2}" type="datetimeFigureOut">
              <a:rPr lang="en-IN" smtClean="0"/>
              <a:t>11-08-2026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80D576-3D44-471D-9917-9B514F92E7B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60812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0751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6400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SECURE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64008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6400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700" b="0">
                <a:solidFill>
                  <a:srgbClr val="CDDCEB"/>
                </a:solidFill>
                <a:latin typeface="Aptos"/>
              </a:rPr>
              <a:t>Network Design &amp; Security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6400800" cy="3657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Presented by: Manisha Chaudhari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234440"/>
            <a:ext cx="2651760" cy="3108960"/>
          </a:xfrm>
          <a:prstGeom prst="roundRect">
            <a:avLst/>
          </a:prstGeom>
          <a:solidFill>
            <a:srgbClr val="18375C"/>
          </a:solidFill>
          <a:ln>
            <a:solidFill>
              <a:srgbClr val="376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49640" y="1572768"/>
            <a:ext cx="2011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SECURE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1920240"/>
            <a:ext cx="20116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Aptos"/>
              </a:rPr>
              <a:t>BANK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2788920"/>
            <a:ext cx="347472" cy="347472"/>
          </a:xfrm>
          <a:prstGeom prst="round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38360" y="2788920"/>
            <a:ext cx="347472" cy="347472"/>
          </a:xfrm>
          <a:prstGeom prst="round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823960" y="3246120"/>
            <a:ext cx="347472" cy="347472"/>
          </a:xfrm>
          <a:prstGeom prst="round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738360" y="3246120"/>
            <a:ext cx="347472" cy="347472"/>
          </a:xfrm>
          <a:prstGeom prst="round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823960" y="3703320"/>
            <a:ext cx="347472" cy="347472"/>
          </a:xfrm>
          <a:prstGeom prst="round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738360" y="3703320"/>
            <a:ext cx="347472" cy="347472"/>
          </a:xfrm>
          <a:prstGeom prst="round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6382512"/>
            <a:ext cx="104241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Confidentiality  •  Integrity  •  Availability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A layered network design for a secure banking environment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64008" cy="1874519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95B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563624"/>
            <a:ext cx="257860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Secure Banking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294639"/>
            <a:ext cx="2825496" cy="5770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Design a secure and reliable network that protects customer data, transactions, servers, and internal systems.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41732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43400" y="1417320"/>
            <a:ext cx="64008" cy="1874519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4568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6632" y="1563624"/>
            <a:ext cx="257860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Controlled Connectivity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2" y="2375430"/>
            <a:ext cx="3017520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Connect departments safely using segmentation, access control, and clearly defined traffic paths.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417320"/>
            <a:ext cx="3520440" cy="1874519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01000" y="1417320"/>
            <a:ext cx="64008" cy="1874519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2168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6966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1563624"/>
            <a:ext cx="257860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Reliable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294639"/>
            <a:ext cx="2993137" cy="57708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Support critical banking applications while maintaining availability and simplifying troubleshooting.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794760"/>
            <a:ext cx="210312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0F2341"/>
                </a:solidFill>
                <a:latin typeface="Aptos"/>
              </a:rPr>
              <a:t>Core design principle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87952"/>
            <a:ext cx="108356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370832"/>
            <a:ext cx="20116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600" b="1">
                <a:solidFill>
                  <a:srgbClr val="008C96"/>
                </a:solidFill>
                <a:latin typeface="Aptos"/>
              </a:rPr>
              <a:t>Defense in depth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4345739"/>
            <a:ext cx="82296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dirty="0">
                <a:solidFill>
                  <a:srgbClr val="232D3A"/>
                </a:solidFill>
                <a:latin typeface="Aptos"/>
              </a:rPr>
              <a:t>Use multiple security layers—segmentation, ACLs, controlled server access, and monitoring—so one failure does not expose the entire network.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Project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The security goals guiding the proposed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64008" cy="160020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95B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563624"/>
            <a:ext cx="41330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Confidentiality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011680"/>
            <a:ext cx="45720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Protect sensitive banking and customer information.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64008" cy="160020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7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1563624"/>
            <a:ext cx="41330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Integrity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011680"/>
            <a:ext cx="45720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Prevent unauthorized changes to data and transactions.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47472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3474720"/>
            <a:ext cx="64008" cy="160020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6966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621024"/>
            <a:ext cx="41330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069080"/>
            <a:ext cx="45720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Keep critical banking services accessible and reliable.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74720"/>
            <a:ext cx="50749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474720"/>
            <a:ext cx="64008" cy="1600200"/>
          </a:xfrm>
          <a:prstGeom prst="rect">
            <a:avLst/>
          </a:prstGeom>
          <a:solidFill>
            <a:srgbClr val="E0AA37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E0AA37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872" y="3621024"/>
            <a:ext cx="41330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Monitoring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069080"/>
            <a:ext cx="45720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Detect suspicious activity and support quick response.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5532120"/>
            <a:ext cx="10561320" cy="502920"/>
          </a:xfrm>
          <a:prstGeom prst="roundRect">
            <a:avLst/>
          </a:prstGeom>
          <a:solidFill>
            <a:srgbClr val="0F2341"/>
          </a:solidFill>
          <a:ln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5596128"/>
            <a:ext cx="1019556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Security objective: allow business traffic while blocking unnecessary or unauthorized access.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01400" y="6437376"/>
            <a:ext cx="32004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900" b="1">
                <a:solidFill>
                  <a:srgbClr val="5F6C7B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0B5CAD"/>
          </a:solidFill>
          <a:ln w="12700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15544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412480" y="2011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E0F2F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Banking Network</a:t>
            </a:r>
            <a:endParaRPr lang="en-US" sz="900" dirty="0"/>
          </a:p>
        </p:txBody>
      </p:sp>
      <p:pic>
        <p:nvPicPr>
          <p:cNvPr id="6" name="Image 0" descr="/mnt/data/CCNA_Final_Project_Zips/Project-1_Secure-Banking-Network/03_Architecture/Project-1_Secure-Banking-Network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0463"/>
            <a:ext cx="11155680" cy="4565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6236208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11533102" y="6473952"/>
            <a:ext cx="8335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900"/>
            </a:pPr>
            <a:r>
              <a:rPr dirty="0"/>
              <a:t>4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Network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High-level traffic path from external connectivity to protected internal resources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956816"/>
            <a:ext cx="1746504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95B96"/>
                </a:solidFill>
                <a:latin typeface="Aptos"/>
              </a:rPr>
              <a:t>Internet / WAN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828800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90088" y="1956816"/>
            <a:ext cx="1746504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008C96"/>
                </a:solidFill>
                <a:latin typeface="Aptos"/>
              </a:rPr>
              <a:t>Edge Router + ACL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1828800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76088" y="1956816"/>
            <a:ext cx="1746504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0F2341"/>
                </a:solidFill>
                <a:latin typeface="Aptos"/>
              </a:rPr>
              <a:t>Core Network + VLANs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1325880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44967" y="1453895"/>
            <a:ext cx="1746504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26966E"/>
                </a:solidFill>
                <a:latin typeface="Aptos"/>
              </a:rPr>
              <a:t>Application / Web Servers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2971800"/>
            <a:ext cx="196596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44967" y="3099816"/>
            <a:ext cx="1746504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E0AA37"/>
                </a:solidFill>
                <a:latin typeface="Aptos"/>
              </a:rPr>
              <a:t>Database / Admin / Users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97480" y="2240280"/>
            <a:ext cx="18288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46320" y="2240280"/>
            <a:ext cx="32004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132320" y="173736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132320" y="338328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425196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77240" y="4251960"/>
            <a:ext cx="64008" cy="114300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33271" y="4398264"/>
            <a:ext cx="27614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1" y="4844311"/>
            <a:ext cx="2615184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Connects different networks and applies controlled routing/ACL policies.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425196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297680" y="4251960"/>
            <a:ext cx="64008" cy="114300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53712" y="4398264"/>
            <a:ext cx="27614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Switches + VLANs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4844311"/>
            <a:ext cx="2633470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Separate departments into logical security zones.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18120" y="4251960"/>
            <a:ext cx="324612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818120" y="4251960"/>
            <a:ext cx="64008" cy="114300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074152" y="4398264"/>
            <a:ext cx="27614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Servers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74152" y="4844311"/>
            <a:ext cx="2679192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Provide application services and store protected banking data.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Main Network Devices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Key components and their role in the secure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1663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85800" y="1417320"/>
            <a:ext cx="64008" cy="164592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86968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95B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563624"/>
            <a:ext cx="42245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Router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011680"/>
            <a:ext cx="46634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Connects different networks and controls traffic between network segments.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17320"/>
            <a:ext cx="51663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64008" cy="164592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7" y="15636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1563624"/>
            <a:ext cx="42245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Switches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2011680"/>
            <a:ext cx="46634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Connect users and devices and provide VLAN-based segmentation.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74720"/>
            <a:ext cx="51663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85800" y="3474720"/>
            <a:ext cx="64008" cy="164592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86968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6966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621024"/>
            <a:ext cx="42245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Application / Web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" y="4069080"/>
            <a:ext cx="466344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Host banking applications and services that users are authorized to access.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74720"/>
            <a:ext cx="5166360" cy="164592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3474720"/>
            <a:ext cx="64008" cy="1645920"/>
          </a:xfrm>
          <a:prstGeom prst="rect">
            <a:avLst/>
          </a:prstGeom>
          <a:solidFill>
            <a:srgbClr val="E0AA37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E0AA37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872" y="3621024"/>
            <a:ext cx="42245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Database Server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4318531"/>
            <a:ext cx="4599432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Stores sensitive banking information and should be reachable only by authorized application/admin traffic.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  <p:extLst>
      <p:ext uri="{BB962C8B-B14F-4D97-AF65-F5344CB8AC3E}">
        <p14:creationId xmlns:p14="http://schemas.microsoft.com/office/powerpoint/2010/main" val="1943230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dirty="0"/>
          </a:p>
        </p:txBody>
      </p:sp>
      <p:sp>
        <p:nvSpPr>
          <p:cNvPr id="3" name="Title"/>
          <p:cNvSpPr txBox="1"/>
          <p:nvPr/>
        </p:nvSpPr>
        <p:spPr>
          <a:xfrm>
            <a:off x="640080" y="411480"/>
            <a:ext cx="597227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2A4A"/>
                </a:solidFill>
              </a:defRPr>
            </a:pPr>
            <a:r>
              <a:rPr dirty="0"/>
              <a:t>IP Addressing &amp; VLAN Segmentation</a:t>
            </a:r>
          </a:p>
        </p:txBody>
      </p:sp>
      <p:sp>
        <p:nvSpPr>
          <p:cNvPr id="4" name="RoundedRectangle"/>
          <p:cNvSpPr/>
          <p:nvPr/>
        </p:nvSpPr>
        <p:spPr>
          <a:xfrm>
            <a:off x="640080" y="142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"/>
          <p:cNvSpPr/>
          <p:nvPr/>
        </p:nvSpPr>
        <p:spPr>
          <a:xfrm>
            <a:off x="640080" y="1420000"/>
            <a:ext cx="91440" cy="1220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868680" y="156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10  –  Operations</a:t>
            </a:r>
          </a:p>
        </p:txBody>
      </p:sp>
      <p:sp>
        <p:nvSpPr>
          <p:cNvPr id="7" name="TextBox"/>
          <p:cNvSpPr txBox="1"/>
          <p:nvPr/>
        </p:nvSpPr>
        <p:spPr>
          <a:xfrm>
            <a:off x="868680" y="198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Employee workstations &amp; office devices</a:t>
            </a:r>
          </a:p>
        </p:txBody>
      </p:sp>
      <p:sp>
        <p:nvSpPr>
          <p:cNvPr id="8" name="RoundedRectangle"/>
          <p:cNvSpPr/>
          <p:nvPr/>
        </p:nvSpPr>
        <p:spPr>
          <a:xfrm>
            <a:off x="3413683" y="142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"/>
          <p:cNvSpPr/>
          <p:nvPr/>
        </p:nvSpPr>
        <p:spPr>
          <a:xfrm>
            <a:off x="3413683" y="1420000"/>
            <a:ext cx="91440" cy="1220000"/>
          </a:xfrm>
          <a:prstGeom prst="rect">
            <a:avLst/>
          </a:prstGeom>
          <a:solidFill>
            <a:srgbClr val="23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3642283" y="156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20  –  Finance</a:t>
            </a:r>
          </a:p>
        </p:txBody>
      </p:sp>
      <p:sp>
        <p:nvSpPr>
          <p:cNvPr id="11" name="TextBox"/>
          <p:cNvSpPr txBox="1"/>
          <p:nvPr/>
        </p:nvSpPr>
        <p:spPr>
          <a:xfrm>
            <a:off x="3642283" y="198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Finance systems &amp; transaction devices</a:t>
            </a:r>
          </a:p>
        </p:txBody>
      </p:sp>
      <p:sp>
        <p:nvSpPr>
          <p:cNvPr id="12" name="RoundedRectangle"/>
          <p:cNvSpPr/>
          <p:nvPr/>
        </p:nvSpPr>
        <p:spPr>
          <a:xfrm>
            <a:off x="6187286" y="142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"/>
          <p:cNvSpPr/>
          <p:nvPr/>
        </p:nvSpPr>
        <p:spPr>
          <a:xfrm>
            <a:off x="6187286" y="1420000"/>
            <a:ext cx="91440" cy="1220000"/>
          </a:xfrm>
          <a:prstGeom prst="rect">
            <a:avLst/>
          </a:prstGeom>
          <a:solidFill>
            <a:srgbClr val="11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"/>
          <p:cNvSpPr txBox="1"/>
          <p:nvPr/>
        </p:nvSpPr>
        <p:spPr>
          <a:xfrm>
            <a:off x="6415886" y="156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30  –  Customer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6415886" y="198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Customer service workstations</a:t>
            </a:r>
          </a:p>
        </p:txBody>
      </p:sp>
      <p:sp>
        <p:nvSpPr>
          <p:cNvPr id="16" name="RoundedRectangle"/>
          <p:cNvSpPr/>
          <p:nvPr/>
        </p:nvSpPr>
        <p:spPr>
          <a:xfrm>
            <a:off x="8960889" y="142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"/>
          <p:cNvSpPr/>
          <p:nvPr/>
        </p:nvSpPr>
        <p:spPr>
          <a:xfrm>
            <a:off x="8960889" y="1420000"/>
            <a:ext cx="91440" cy="1220000"/>
          </a:xfrm>
          <a:prstGeom prst="rect">
            <a:avLst/>
          </a:prstGeom>
          <a:solidFill>
            <a:srgbClr val="8C5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"/>
          <p:cNvSpPr txBox="1"/>
          <p:nvPr/>
        </p:nvSpPr>
        <p:spPr>
          <a:xfrm>
            <a:off x="9189489" y="156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40  –  IT Admin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9189489" y="198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Network devices &amp; admin access</a:t>
            </a:r>
          </a:p>
        </p:txBody>
      </p:sp>
      <p:sp>
        <p:nvSpPr>
          <p:cNvPr id="20" name="RoundedRectangle"/>
          <p:cNvSpPr/>
          <p:nvPr/>
        </p:nvSpPr>
        <p:spPr>
          <a:xfrm>
            <a:off x="640080" y="285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"/>
          <p:cNvSpPr/>
          <p:nvPr/>
        </p:nvSpPr>
        <p:spPr>
          <a:xfrm>
            <a:off x="640080" y="2850000"/>
            <a:ext cx="91440" cy="1220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"/>
          <p:cNvSpPr txBox="1"/>
          <p:nvPr/>
        </p:nvSpPr>
        <p:spPr>
          <a:xfrm>
            <a:off x="868680" y="299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50  –  Bank Server</a:t>
            </a:r>
          </a:p>
        </p:txBody>
      </p:sp>
      <p:sp>
        <p:nvSpPr>
          <p:cNvPr id="23" name="TextBox"/>
          <p:cNvSpPr txBox="1"/>
          <p:nvPr/>
        </p:nvSpPr>
        <p:spPr>
          <a:xfrm>
            <a:off x="868680" y="341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Core banking application &amp; DB servers</a:t>
            </a:r>
          </a:p>
        </p:txBody>
      </p:sp>
      <p:sp>
        <p:nvSpPr>
          <p:cNvPr id="24" name="RoundedRectangle"/>
          <p:cNvSpPr/>
          <p:nvPr/>
        </p:nvSpPr>
        <p:spPr>
          <a:xfrm>
            <a:off x="3413683" y="285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"/>
          <p:cNvSpPr/>
          <p:nvPr/>
        </p:nvSpPr>
        <p:spPr>
          <a:xfrm>
            <a:off x="3413683" y="2850000"/>
            <a:ext cx="91440" cy="1220000"/>
          </a:xfrm>
          <a:prstGeom prst="rect">
            <a:avLst/>
          </a:prstGeom>
          <a:solidFill>
            <a:srgbClr val="C98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"/>
          <p:cNvSpPr txBox="1"/>
          <p:nvPr/>
        </p:nvSpPr>
        <p:spPr>
          <a:xfrm>
            <a:off x="3642283" y="299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99  –  Management</a:t>
            </a:r>
          </a:p>
        </p:txBody>
      </p:sp>
      <p:sp>
        <p:nvSpPr>
          <p:cNvPr id="27" name="TextBox"/>
          <p:cNvSpPr txBox="1"/>
          <p:nvPr/>
        </p:nvSpPr>
        <p:spPr>
          <a:xfrm>
            <a:off x="3642283" y="341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Dedicated device management traffic</a:t>
            </a:r>
          </a:p>
        </p:txBody>
      </p:sp>
      <p:sp>
        <p:nvSpPr>
          <p:cNvPr id="28" name="RoundedRectangle"/>
          <p:cNvSpPr/>
          <p:nvPr/>
        </p:nvSpPr>
        <p:spPr>
          <a:xfrm>
            <a:off x="6187286" y="285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"/>
          <p:cNvSpPr/>
          <p:nvPr/>
        </p:nvSpPr>
        <p:spPr>
          <a:xfrm>
            <a:off x="6187286" y="2850000"/>
            <a:ext cx="91440" cy="1220000"/>
          </a:xfrm>
          <a:prstGeom prst="rect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"/>
          <p:cNvSpPr txBox="1"/>
          <p:nvPr/>
        </p:nvSpPr>
        <p:spPr>
          <a:xfrm>
            <a:off x="6415886" y="299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110  –  Branch 1</a:t>
            </a:r>
          </a:p>
        </p:txBody>
      </p:sp>
      <p:sp>
        <p:nvSpPr>
          <p:cNvPr id="31" name="TextBox"/>
          <p:cNvSpPr txBox="1"/>
          <p:nvPr/>
        </p:nvSpPr>
        <p:spPr>
          <a:xfrm>
            <a:off x="6415886" y="341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Remote branch office network</a:t>
            </a:r>
          </a:p>
        </p:txBody>
      </p:sp>
      <p:sp>
        <p:nvSpPr>
          <p:cNvPr id="32" name="RoundedRectangle"/>
          <p:cNvSpPr/>
          <p:nvPr/>
        </p:nvSpPr>
        <p:spPr>
          <a:xfrm>
            <a:off x="8960889" y="2850000"/>
            <a:ext cx="2590723" cy="122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"/>
          <p:cNvSpPr/>
          <p:nvPr/>
        </p:nvSpPr>
        <p:spPr>
          <a:xfrm>
            <a:off x="8960889" y="2850000"/>
            <a:ext cx="91440" cy="1220000"/>
          </a:xfrm>
          <a:prstGeom prst="rect">
            <a:avLst/>
          </a:prstGeom>
          <a:solidFill>
            <a:srgbClr val="B0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"/>
          <p:cNvSpPr txBox="1"/>
          <p:nvPr/>
        </p:nvSpPr>
        <p:spPr>
          <a:xfrm>
            <a:off x="9189489" y="2991480"/>
            <a:ext cx="2224963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112A4A"/>
                </a:solidFill>
              </a:rPr>
              <a:t>VLAN 120  –  Branch 2</a:t>
            </a:r>
          </a:p>
        </p:txBody>
      </p:sp>
      <p:sp>
        <p:nvSpPr>
          <p:cNvPr id="35" name="TextBox"/>
          <p:cNvSpPr txBox="1"/>
          <p:nvPr/>
        </p:nvSpPr>
        <p:spPr>
          <a:xfrm>
            <a:off x="9189489" y="3410000"/>
            <a:ext cx="2224963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solidFill>
                  <a:srgbClr val="232D37"/>
                </a:solidFill>
              </a:rPr>
              <a:t>Remote branch office network</a:t>
            </a:r>
          </a:p>
        </p:txBody>
      </p:sp>
      <p:sp>
        <p:nvSpPr>
          <p:cNvPr id="36" name="RoundedRectangle"/>
          <p:cNvSpPr/>
          <p:nvPr/>
        </p:nvSpPr>
        <p:spPr>
          <a:xfrm>
            <a:off x="640080" y="4330000"/>
            <a:ext cx="10911535" cy="760000"/>
          </a:xfrm>
          <a:prstGeom prst="roundRect">
            <a:avLst/>
          </a:prstGeom>
          <a:solidFill>
            <a:srgbClr val="E9F1FB"/>
          </a:solidFill>
          <a:ln>
            <a:solidFill>
              <a:srgbClr val="D3E3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"/>
          <p:cNvSpPr txBox="1"/>
          <p:nvPr/>
        </p:nvSpPr>
        <p:spPr>
          <a:xfrm>
            <a:off x="914400" y="4440000"/>
            <a:ext cx="1036289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dirty="0">
                <a:solidFill>
                  <a:srgbClr val="232D37"/>
                </a:solidFill>
              </a:rPr>
              <a:t>VLAN segmentation isolates departments from one another and reduces unnecessary broadcast traffic, so each business function operates on its own logical network even while sharing the same physical switching infrastructure.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Secure Traffic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Only authorized traffic should move between security zones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1" y="2340864"/>
            <a:ext cx="1453896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195B96"/>
                </a:solidFill>
                <a:latin typeface="Aptos"/>
              </a:rPr>
              <a:t>User / Customer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219456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53512" y="2340864"/>
            <a:ext cx="1453896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008C96"/>
                </a:solidFill>
                <a:latin typeface="Aptos"/>
              </a:rPr>
              <a:t>ACL 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66360" y="219456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39512" y="2340864"/>
            <a:ext cx="1453896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6966E"/>
                </a:solidFill>
                <a:latin typeface="Aptos"/>
              </a:rPr>
              <a:t>Application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19456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62672" y="2340864"/>
            <a:ext cx="1453896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E0AA37"/>
                </a:solidFill>
                <a:latin typeface="Aptos"/>
              </a:rPr>
              <a:t>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29800" y="2194560"/>
            <a:ext cx="16002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02952" y="2340864"/>
            <a:ext cx="1453896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0F2341"/>
                </a:solidFill>
                <a:latin typeface="Aptos"/>
              </a:rPr>
              <a:t>Response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260604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526280" y="260604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269480" y="260604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464040" y="2606040"/>
            <a:ext cx="502920" cy="0"/>
          </a:xfrm>
          <a:prstGeom prst="line">
            <a:avLst/>
          </a:prstGeom>
          <a:ln w="25400">
            <a:solidFill>
              <a:srgbClr val="008C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977639"/>
            <a:ext cx="1033272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0F2341"/>
                </a:solidFill>
                <a:latin typeface="Aptos"/>
              </a:rPr>
              <a:t>Request → policy check → application processing → protected data access → response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800600"/>
            <a:ext cx="31089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14400" y="4800600"/>
            <a:ext cx="64008" cy="100584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70432" y="4946904"/>
            <a:ext cx="26243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ACL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" y="5394960"/>
            <a:ext cx="2606039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Allow only required source/destination traffic.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26280" y="4800600"/>
            <a:ext cx="31089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526280" y="4800600"/>
            <a:ext cx="64008" cy="100584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82312" y="4946904"/>
            <a:ext cx="26243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Segmentation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3" y="5319800"/>
            <a:ext cx="2487168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Keep users, servers, and admin access separated.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38160" y="4800600"/>
            <a:ext cx="31089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138160" y="4800600"/>
            <a:ext cx="64008" cy="100584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94192" y="4946904"/>
            <a:ext cx="2624328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Monitoring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3" y="5319800"/>
            <a:ext cx="2509782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Review traffic and investigate unusual behavior.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640080" y="411480"/>
            <a:ext cx="38399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2A4A"/>
                </a:solidFill>
              </a:defRPr>
            </a:pPr>
            <a:r>
              <a:rPr dirty="0"/>
              <a:t>Routing &amp; Redundancy</a:t>
            </a:r>
          </a:p>
        </p:txBody>
      </p:sp>
      <p:sp>
        <p:nvSpPr>
          <p:cNvPr id="4" name="RoundedRectangle"/>
          <p:cNvSpPr/>
          <p:nvPr/>
        </p:nvSpPr>
        <p:spPr>
          <a:xfrm>
            <a:off x="640080" y="1420000"/>
            <a:ext cx="5029200" cy="438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"/>
          <p:cNvSpPr/>
          <p:nvPr/>
        </p:nvSpPr>
        <p:spPr>
          <a:xfrm>
            <a:off x="640080" y="1420000"/>
            <a:ext cx="91440" cy="4380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"/>
          <p:cNvSpPr txBox="1"/>
          <p:nvPr/>
        </p:nvSpPr>
        <p:spPr>
          <a:xfrm>
            <a:off x="960080" y="1570000"/>
            <a:ext cx="43892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dirty="0">
                <a:solidFill>
                  <a:srgbClr val="112A4A"/>
                </a:solidFill>
              </a:rPr>
              <a:t>OSPF – Area 0</a:t>
            </a:r>
          </a:p>
        </p:txBody>
      </p:sp>
      <p:sp>
        <p:nvSpPr>
          <p:cNvPr id="7" name="RoundedRectangle"/>
          <p:cNvSpPr/>
          <p:nvPr/>
        </p:nvSpPr>
        <p:spPr>
          <a:xfrm>
            <a:off x="2179680" y="2200000"/>
            <a:ext cx="1950000" cy="560000"/>
          </a:xfrm>
          <a:prstGeom prst="roundRect">
            <a:avLst/>
          </a:prstGeom>
          <a:solidFill>
            <a:srgbClr val="11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2179680" y="2330000"/>
            <a:ext cx="195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</a:rPr>
              <a:t>Head Office Router</a:t>
            </a:r>
          </a:p>
        </p:txBody>
      </p:sp>
      <p:sp>
        <p:nvSpPr>
          <p:cNvPr id="9" name="RoundedRectangle"/>
          <p:cNvSpPr/>
          <p:nvPr/>
        </p:nvSpPr>
        <p:spPr>
          <a:xfrm>
            <a:off x="940080" y="3240000"/>
            <a:ext cx="1700000" cy="5200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"/>
          <p:cNvSpPr txBox="1"/>
          <p:nvPr/>
        </p:nvSpPr>
        <p:spPr>
          <a:xfrm>
            <a:off x="940080" y="3360000"/>
            <a:ext cx="17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Branch 1 Router</a:t>
            </a:r>
          </a:p>
        </p:txBody>
      </p:sp>
      <p:sp>
        <p:nvSpPr>
          <p:cNvPr id="11" name="RoundedRectangle"/>
          <p:cNvSpPr/>
          <p:nvPr/>
        </p:nvSpPr>
        <p:spPr>
          <a:xfrm>
            <a:off x="3669280" y="3240000"/>
            <a:ext cx="1700000" cy="5200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"/>
          <p:cNvSpPr txBox="1"/>
          <p:nvPr/>
        </p:nvSpPr>
        <p:spPr>
          <a:xfrm>
            <a:off x="3669280" y="3360000"/>
            <a:ext cx="17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Branch 2 Router</a:t>
            </a:r>
          </a:p>
        </p:txBody>
      </p:sp>
      <p:cxnSp>
        <p:nvCxnSpPr>
          <p:cNvPr id="13" name="Line"/>
          <p:cNvCxnSpPr/>
          <p:nvPr/>
        </p:nvCxnSpPr>
        <p:spPr>
          <a:xfrm flipH="1">
            <a:off x="1790080" y="2760000"/>
            <a:ext cx="639600" cy="480000"/>
          </a:xfrm>
          <a:prstGeom prst="line">
            <a:avLst/>
          </a:prstGeom>
          <a:ln w="19050">
            <a:solidFill>
              <a:srgbClr val="5B6B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Line"/>
          <p:cNvCxnSpPr/>
          <p:nvPr/>
        </p:nvCxnSpPr>
        <p:spPr>
          <a:xfrm>
            <a:off x="3879680" y="2760000"/>
            <a:ext cx="639600" cy="480000"/>
          </a:xfrm>
          <a:prstGeom prst="line">
            <a:avLst/>
          </a:prstGeom>
          <a:ln w="19050">
            <a:solidFill>
              <a:srgbClr val="5B6B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Bullets"/>
          <p:cNvSpPr txBox="1"/>
          <p:nvPr/>
        </p:nvSpPr>
        <p:spPr>
          <a:xfrm>
            <a:off x="960080" y="3990000"/>
            <a:ext cx="43892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Single OSPF Area 0 routes traffic between Head Office and both branches.</a:t>
            </a:r>
          </a:p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Each router advertises a unique Router ID used for neighbor identification.</a:t>
            </a:r>
          </a:p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Dynamic routing lets the network adapt automatically to link changes.</a:t>
            </a:r>
          </a:p>
        </p:txBody>
      </p:sp>
      <p:sp>
        <p:nvSpPr>
          <p:cNvPr id="16" name="RoundedRectangle"/>
          <p:cNvSpPr/>
          <p:nvPr/>
        </p:nvSpPr>
        <p:spPr>
          <a:xfrm>
            <a:off x="5882575" y="1420000"/>
            <a:ext cx="5029200" cy="4380000"/>
          </a:xfrm>
          <a:prstGeom prst="roundRect">
            <a:avLst/>
          </a:prstGeom>
          <a:solidFill>
            <a:srgbClr val="FFFFFF"/>
          </a:solidFill>
          <a:ln>
            <a:solidFill>
              <a:srgbClr val="DCE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"/>
          <p:cNvSpPr/>
          <p:nvPr/>
        </p:nvSpPr>
        <p:spPr>
          <a:xfrm>
            <a:off x="5882575" y="1420000"/>
            <a:ext cx="91440" cy="4380000"/>
          </a:xfrm>
          <a:prstGeom prst="rect">
            <a:avLst/>
          </a:prstGeom>
          <a:solidFill>
            <a:srgbClr val="23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"/>
          <p:cNvSpPr txBox="1"/>
          <p:nvPr/>
        </p:nvSpPr>
        <p:spPr>
          <a:xfrm>
            <a:off x="6202575" y="1570000"/>
            <a:ext cx="43892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dirty="0">
                <a:solidFill>
                  <a:srgbClr val="112A4A"/>
                </a:solidFill>
              </a:rPr>
              <a:t>Gateway Redundancy – HSRP / FHRP</a:t>
            </a:r>
          </a:p>
        </p:txBody>
      </p:sp>
      <p:sp>
        <p:nvSpPr>
          <p:cNvPr id="19" name="RoundedRectangle"/>
          <p:cNvSpPr/>
          <p:nvPr/>
        </p:nvSpPr>
        <p:spPr>
          <a:xfrm>
            <a:off x="7097175" y="2200000"/>
            <a:ext cx="2600000" cy="560000"/>
          </a:xfrm>
          <a:prstGeom prst="roundRect">
            <a:avLst/>
          </a:prstGeom>
          <a:solidFill>
            <a:srgbClr val="11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"/>
          <p:cNvSpPr txBox="1"/>
          <p:nvPr/>
        </p:nvSpPr>
        <p:spPr>
          <a:xfrm>
            <a:off x="7097175" y="2330000"/>
            <a:ext cx="26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</a:rPr>
              <a:t>Virtual Gateway IP</a:t>
            </a:r>
          </a:p>
        </p:txBody>
      </p:sp>
      <p:sp>
        <p:nvSpPr>
          <p:cNvPr id="21" name="RoundedRectangle"/>
          <p:cNvSpPr/>
          <p:nvPr/>
        </p:nvSpPr>
        <p:spPr>
          <a:xfrm>
            <a:off x="6182575" y="3240000"/>
            <a:ext cx="1700000" cy="520000"/>
          </a:xfrm>
          <a:prstGeom prst="roundRect">
            <a:avLst/>
          </a:prstGeom>
          <a:solidFill>
            <a:srgbClr val="23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"/>
          <p:cNvSpPr txBox="1"/>
          <p:nvPr/>
        </p:nvSpPr>
        <p:spPr>
          <a:xfrm>
            <a:off x="6182575" y="3360000"/>
            <a:ext cx="17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Router A – Active</a:t>
            </a:r>
          </a:p>
        </p:txBody>
      </p:sp>
      <p:sp>
        <p:nvSpPr>
          <p:cNvPr id="23" name="RoundedRectangle"/>
          <p:cNvSpPr/>
          <p:nvPr/>
        </p:nvSpPr>
        <p:spPr>
          <a:xfrm>
            <a:off x="8911775" y="3240000"/>
            <a:ext cx="1700000" cy="520000"/>
          </a:xfrm>
          <a:prstGeom prst="roundRect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"/>
          <p:cNvSpPr txBox="1"/>
          <p:nvPr/>
        </p:nvSpPr>
        <p:spPr>
          <a:xfrm>
            <a:off x="8911775" y="3360000"/>
            <a:ext cx="17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Router B – Standby</a:t>
            </a:r>
          </a:p>
        </p:txBody>
      </p:sp>
      <p:cxnSp>
        <p:nvCxnSpPr>
          <p:cNvPr id="25" name="Line"/>
          <p:cNvCxnSpPr/>
          <p:nvPr/>
        </p:nvCxnSpPr>
        <p:spPr>
          <a:xfrm flipH="1">
            <a:off x="7032575" y="2760000"/>
            <a:ext cx="314600" cy="480000"/>
          </a:xfrm>
          <a:prstGeom prst="line">
            <a:avLst/>
          </a:prstGeom>
          <a:ln w="19050">
            <a:solidFill>
              <a:srgbClr val="5B6B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Line"/>
          <p:cNvCxnSpPr/>
          <p:nvPr/>
        </p:nvCxnSpPr>
        <p:spPr>
          <a:xfrm>
            <a:off x="9447175" y="2760000"/>
            <a:ext cx="314600" cy="480000"/>
          </a:xfrm>
          <a:prstGeom prst="line">
            <a:avLst/>
          </a:prstGeom>
          <a:ln w="19050">
            <a:solidFill>
              <a:srgbClr val="5B6B7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Bullets"/>
          <p:cNvSpPr txBox="1"/>
          <p:nvPr/>
        </p:nvSpPr>
        <p:spPr>
          <a:xfrm>
            <a:off x="6202575" y="3990000"/>
            <a:ext cx="43892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Router A and Router B share one virtual gateway IP address for end devices.</a:t>
            </a:r>
          </a:p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If the active router fails, the standby router takes over automatically.</a:t>
            </a:r>
          </a:p>
          <a:p>
            <a:pPr>
              <a:spcAft>
                <a:spcPts val="800"/>
              </a:spcAft>
              <a:defRPr sz="1150">
                <a:solidFill>
                  <a:srgbClr val="232D37"/>
                </a:solidFill>
              </a:defRPr>
            </a:pPr>
            <a:r>
              <a:rPr dirty="0"/>
              <a:t>The backup gateway keeps connectivity active with no manual reconfiguration.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6961"/>
            <a:ext cx="4535024" cy="47705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n-US" sz="2500" b="1" dirty="0">
                <a:solidFill>
                  <a:srgbClr val="112A4A"/>
                </a:solidFill>
                <a:latin typeface="Aptos"/>
              </a:rPr>
              <a:t> </a:t>
            </a:r>
            <a:r>
              <a:rPr sz="2500" b="1" dirty="0">
                <a:solidFill>
                  <a:srgbClr val="112A4A"/>
                </a:solidFill>
                <a:latin typeface="Aptos"/>
              </a:rPr>
              <a:t> HSRP Gateway Redundancy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0058400" cy="32918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50" b="0">
                <a:solidFill>
                  <a:srgbClr val="5B6B7C"/>
                </a:solidFill>
                <a:latin typeface="Aptos"/>
              </a:rPr>
              <a:t>High availability at the Head Office edge — users keep the same default gateway during router failure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4617720" cy="4251960"/>
          </a:xfrm>
          <a:prstGeom prst="roundRect">
            <a:avLst/>
          </a:prstGeom>
          <a:solidFill>
            <a:srgbClr val="F2F7FC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1627632"/>
            <a:ext cx="219456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ptos"/>
              </a:rPr>
              <a:t>HOW HSRP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15087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212848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900" b="1">
                <a:solidFill>
                  <a:srgbClr val="112A4A"/>
                </a:solidFill>
                <a:latin typeface="Aptos"/>
              </a:rPr>
              <a:t>R-HO1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0320"/>
            <a:ext cx="1298448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39669"/>
                </a:solidFill>
                <a:latin typeface="Aptos"/>
              </a:rPr>
              <a:t>ACTIVE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057400"/>
            <a:ext cx="15087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10712" y="2212848"/>
            <a:ext cx="1371600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900" b="1">
                <a:solidFill>
                  <a:srgbClr val="112A4A"/>
                </a:solidFill>
                <a:latin typeface="Aptos"/>
              </a:rPr>
              <a:t>R-HO2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560320"/>
            <a:ext cx="13716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23979B"/>
                </a:solidFill>
                <a:latin typeface="Aptos"/>
              </a:rPr>
              <a:t>STANDBY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3520440"/>
            <a:ext cx="2331720" cy="777240"/>
          </a:xfrm>
          <a:prstGeom prst="roundRect">
            <a:avLst/>
          </a:prstGeom>
          <a:solidFill>
            <a:srgbClr val="EBF7F0"/>
          </a:solidFill>
          <a:ln w="15240">
            <a:solidFill>
              <a:srgbClr val="23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828800" y="3639312"/>
            <a:ext cx="20574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600" b="1">
                <a:solidFill>
                  <a:srgbClr val="112A4A"/>
                </a:solidFill>
                <a:latin typeface="Aptos"/>
              </a:rPr>
              <a:t>Virtual Gateway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22776"/>
            <a:ext cx="20574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39669"/>
                </a:solidFill>
                <a:latin typeface="Aptos"/>
              </a:rPr>
              <a:t>192.168.10.1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572768" y="3108960"/>
            <a:ext cx="640080" cy="411480"/>
          </a:xfrm>
          <a:prstGeom prst="line">
            <a:avLst/>
          </a:prstGeom>
          <a:ln w="3175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493008" y="3108960"/>
            <a:ext cx="603504" cy="411480"/>
          </a:xfrm>
          <a:prstGeom prst="line">
            <a:avLst/>
          </a:prstGeom>
          <a:ln w="31750">
            <a:solidFill>
              <a:srgbClr val="23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394960" y="1417320"/>
            <a:ext cx="4983480" cy="4251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0" y="1627632"/>
            <a:ext cx="2286000" cy="29260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23979B"/>
                </a:solidFill>
                <a:latin typeface="Aptos"/>
              </a:rPr>
              <a:t>VLAN 10 — EXAMPLE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50992" y="2148840"/>
            <a:ext cx="4434840" cy="713232"/>
          </a:xfrm>
          <a:prstGeom prst="roundRect">
            <a:avLst/>
          </a:prstGeom>
          <a:solidFill>
            <a:srgbClr val="F2F7FC"/>
          </a:solidFill>
          <a:ln w="15240">
            <a:solidFill>
              <a:srgbClr val="F2F7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806440" y="2258568"/>
            <a:ext cx="1143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12A4A"/>
                </a:solidFill>
                <a:latin typeface="Aptos"/>
              </a:rPr>
              <a:t>R-HO1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258568"/>
            <a:ext cx="132588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9232D"/>
                </a:solidFill>
                <a:latin typeface="Aptos"/>
              </a:rPr>
              <a:t>192.168.10.2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2258568"/>
            <a:ext cx="1572768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B6B7C"/>
                </a:solidFill>
                <a:latin typeface="Aptos"/>
              </a:rPr>
              <a:t>Priority 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50992" y="3008376"/>
            <a:ext cx="4434840" cy="713232"/>
          </a:xfrm>
          <a:prstGeom prst="roundRect">
            <a:avLst/>
          </a:prstGeom>
          <a:solidFill>
            <a:srgbClr val="EBF7F0"/>
          </a:solidFill>
          <a:ln w="15240">
            <a:solidFill>
              <a:srgbClr val="EBF7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806440" y="3118104"/>
            <a:ext cx="1143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12A4A"/>
                </a:solidFill>
                <a:latin typeface="Aptos"/>
              </a:rPr>
              <a:t>R-HO2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3118104"/>
            <a:ext cx="132588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9232D"/>
                </a:solidFill>
                <a:latin typeface="Aptos"/>
              </a:rPr>
              <a:t>192.168.10.3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118104"/>
            <a:ext cx="1572768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B6B7C"/>
                </a:solidFill>
                <a:latin typeface="Aptos"/>
              </a:rPr>
              <a:t>Standby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50992" y="3867912"/>
            <a:ext cx="4434840" cy="713232"/>
          </a:xfrm>
          <a:prstGeom prst="roundRect">
            <a:avLst/>
          </a:prstGeom>
          <a:solidFill>
            <a:srgbClr val="F7F7F7"/>
          </a:solidFill>
          <a:ln w="15240">
            <a:solidFill>
              <a:srgbClr val="F7F7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806440" y="3977640"/>
            <a:ext cx="1143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300" b="1">
                <a:solidFill>
                  <a:srgbClr val="112A4A"/>
                </a:solidFill>
                <a:latin typeface="Aptos"/>
              </a:rPr>
              <a:t>Virtual GW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3977640"/>
            <a:ext cx="132588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200" b="1">
                <a:solidFill>
                  <a:srgbClr val="19232D"/>
                </a:solidFill>
                <a:latin typeface="Aptos"/>
              </a:rPr>
              <a:t>192.168.10.1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977640"/>
            <a:ext cx="1572768" cy="2743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B6B7C"/>
                </a:solidFill>
                <a:latin typeface="Aptos"/>
              </a:rPr>
              <a:t>Users' default gateway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50992" y="4800600"/>
            <a:ext cx="4434840" cy="594360"/>
          </a:xfrm>
          <a:prstGeom prst="roundRect">
            <a:avLst/>
          </a:prstGeom>
          <a:solidFill>
            <a:srgbClr val="FCF4F4"/>
          </a:solidFill>
          <a:ln w="15240">
            <a:solidFill>
              <a:srgbClr val="E8B7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06440" y="4928616"/>
            <a:ext cx="41148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50" b="1">
                <a:solidFill>
                  <a:srgbClr val="112A4A"/>
                </a:solidFill>
                <a:latin typeface="Aptos"/>
              </a:rPr>
              <a:t>Failure test  →  R-HO1 fails  →  R-HO2 becomes Active</a:t>
            </a:r>
          </a:p>
        </p:txBody>
      </p:sp>
      <p:sp>
        <p:nvSpPr>
          <p:cNvPr id="44" name="Oval 43"/>
          <p:cNvSpPr/>
          <p:nvPr/>
        </p:nvSpPr>
        <p:spPr>
          <a:xfrm>
            <a:off x="859536" y="4526280"/>
            <a:ext cx="109728" cy="10972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97280" y="4443984"/>
            <a:ext cx="3794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9232D"/>
                </a:solidFill>
                <a:latin typeface="Aptos"/>
              </a:rPr>
              <a:t>R-HO1 is preferred as the active gateway.</a:t>
            </a:r>
          </a:p>
        </p:txBody>
      </p:sp>
      <p:sp>
        <p:nvSpPr>
          <p:cNvPr id="46" name="Oval 45"/>
          <p:cNvSpPr/>
          <p:nvPr/>
        </p:nvSpPr>
        <p:spPr>
          <a:xfrm>
            <a:off x="859536" y="4837176"/>
            <a:ext cx="109728" cy="10972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97280" y="4754880"/>
            <a:ext cx="3794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9232D"/>
                </a:solidFill>
                <a:latin typeface="Aptos"/>
              </a:rPr>
              <a:t>R-HO2 remains ready to take over.</a:t>
            </a:r>
          </a:p>
        </p:txBody>
      </p:sp>
      <p:sp>
        <p:nvSpPr>
          <p:cNvPr id="48" name="Oval 47"/>
          <p:cNvSpPr/>
          <p:nvPr/>
        </p:nvSpPr>
        <p:spPr>
          <a:xfrm>
            <a:off x="859536" y="5148072"/>
            <a:ext cx="109728" cy="10972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97280" y="5065776"/>
            <a:ext cx="3794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9232D"/>
                </a:solidFill>
                <a:latin typeface="Aptos"/>
              </a:rPr>
              <a:t>Users point to one virtual gateway IP.</a:t>
            </a:r>
          </a:p>
        </p:txBody>
      </p:sp>
      <p:sp>
        <p:nvSpPr>
          <p:cNvPr id="50" name="Oval 49"/>
          <p:cNvSpPr/>
          <p:nvPr/>
        </p:nvSpPr>
        <p:spPr>
          <a:xfrm>
            <a:off x="859536" y="5458968"/>
            <a:ext cx="109728" cy="109728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097280" y="5376672"/>
            <a:ext cx="3794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9232D"/>
                </a:solidFill>
                <a:latin typeface="Aptos"/>
              </a:rPr>
              <a:t>Failover happens automatically if the active router fails.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0352" y="236961"/>
            <a:ext cx="6269473" cy="47705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500" b="1" dirty="0">
                <a:solidFill>
                  <a:srgbClr val="112A4A"/>
                </a:solidFill>
                <a:latin typeface="Aptos"/>
              </a:rPr>
              <a:t> Default Route + PAT to the Simulated ISP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960120" cy="5029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9829800" cy="1965960"/>
          </a:xfrm>
          <a:prstGeom prst="roundRect">
            <a:avLst/>
          </a:prstGeom>
          <a:solidFill>
            <a:srgbClr val="F2F7FC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4672" y="2084831"/>
            <a:ext cx="15087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96112" y="2203704"/>
            <a:ext cx="310896" cy="31089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2167128"/>
            <a:ext cx="941832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112A4A"/>
                </a:solidFill>
                <a:latin typeface="Aptos"/>
              </a:rPr>
              <a:t>User VLANs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5086" y="2415996"/>
            <a:ext cx="1150330" cy="3820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19" b="0" dirty="0">
                <a:solidFill>
                  <a:srgbClr val="5B6B7C"/>
                </a:solidFill>
                <a:latin typeface="Aptos"/>
              </a:rPr>
              <a:t>10 / 20 / 30 / 40</a:t>
            </a:r>
            <a:r>
              <a:rPr lang="en-US" sz="919" b="0" dirty="0">
                <a:solidFill>
                  <a:srgbClr val="5B6B7C"/>
                </a:solidFill>
                <a:latin typeface="Aptos"/>
              </a:rPr>
              <a:t>/110/120</a:t>
            </a:r>
            <a:endParaRPr sz="919" b="0" dirty="0">
              <a:solidFill>
                <a:srgbClr val="5B6B7C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606040" y="2084831"/>
            <a:ext cx="15087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697480" y="2203704"/>
            <a:ext cx="310896" cy="310896"/>
          </a:xfrm>
          <a:prstGeom prst="ellipse">
            <a:avLst/>
          </a:prstGeom>
          <a:solidFill>
            <a:srgbClr val="239669"/>
          </a:solidFill>
          <a:ln>
            <a:solidFill>
              <a:srgbClr val="23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2167128"/>
            <a:ext cx="941832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112A4A"/>
                </a:solidFill>
                <a:latin typeface="Aptos"/>
              </a:rPr>
              <a:t>HSRP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4952" y="2441448"/>
            <a:ext cx="987552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19" b="0">
                <a:solidFill>
                  <a:srgbClr val="5B6B7C"/>
                </a:solidFill>
                <a:latin typeface="Aptos"/>
              </a:rPr>
              <a:t>Virtual GW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07408" y="2084831"/>
            <a:ext cx="15087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1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498848" y="2203704"/>
            <a:ext cx="310896" cy="310896"/>
          </a:xfrm>
          <a:prstGeom prst="ellipse">
            <a:avLst/>
          </a:prstGeom>
          <a:solidFill>
            <a:srgbClr val="112A4A"/>
          </a:solidFill>
          <a:ln>
            <a:solidFill>
              <a:srgbClr val="11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2167128"/>
            <a:ext cx="941832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112A4A"/>
                </a:solidFill>
                <a:latin typeface="Aptos"/>
              </a:rPr>
              <a:t>R-HO1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41448"/>
            <a:ext cx="987552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19" b="0">
                <a:solidFill>
                  <a:srgbClr val="5B6B7C"/>
                </a:solidFill>
                <a:latin typeface="Aptos"/>
              </a:rPr>
              <a:t>Active Edge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8776" y="2084831"/>
            <a:ext cx="15087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39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300216" y="2203704"/>
            <a:ext cx="310896" cy="310896"/>
          </a:xfrm>
          <a:prstGeom prst="ellipse">
            <a:avLst/>
          </a:prstGeom>
          <a:solidFill>
            <a:srgbClr val="23979B"/>
          </a:solidFill>
          <a:ln>
            <a:solidFill>
              <a:srgbClr val="2397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2167128"/>
            <a:ext cx="941832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112A4A"/>
                </a:solidFill>
                <a:latin typeface="Aptos"/>
              </a:rPr>
              <a:t>PAT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8" y="2441448"/>
            <a:ext cx="987552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19" b="0">
                <a:solidFill>
                  <a:srgbClr val="5B6B7C"/>
                </a:solidFill>
                <a:latin typeface="Aptos"/>
              </a:rPr>
              <a:t>Private → Public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10144" y="2084831"/>
            <a:ext cx="1508760" cy="8412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8101583" y="2203704"/>
            <a:ext cx="310896" cy="310896"/>
          </a:xfrm>
          <a:prstGeom prst="ellipse">
            <a:avLst/>
          </a:prstGeom>
          <a:solidFill>
            <a:srgbClr val="1F6FEB"/>
          </a:solidFill>
          <a:ln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67344" y="2167128"/>
            <a:ext cx="941832" cy="21945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20" b="1">
                <a:solidFill>
                  <a:srgbClr val="112A4A"/>
                </a:solidFill>
                <a:latin typeface="Aptos"/>
              </a:rPr>
              <a:t>ISP / Internet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49056" y="2441448"/>
            <a:ext cx="987552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919" b="0">
                <a:solidFill>
                  <a:srgbClr val="5B6B7C"/>
                </a:solidFill>
                <a:latin typeface="Aptos"/>
              </a:rPr>
              <a:t>External Network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331720" y="2505456"/>
            <a:ext cx="246888" cy="0"/>
          </a:xfrm>
          <a:prstGeom prst="line">
            <a:avLst/>
          </a:prstGeom>
          <a:ln w="2794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33087" y="2505456"/>
            <a:ext cx="246888" cy="0"/>
          </a:xfrm>
          <a:prstGeom prst="line">
            <a:avLst/>
          </a:prstGeom>
          <a:ln w="2794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34456" y="2505456"/>
            <a:ext cx="246888" cy="0"/>
          </a:xfrm>
          <a:prstGeom prst="line">
            <a:avLst/>
          </a:prstGeom>
          <a:ln w="2794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735824" y="2505456"/>
            <a:ext cx="246888" cy="0"/>
          </a:xfrm>
          <a:prstGeom prst="line">
            <a:avLst/>
          </a:prstGeom>
          <a:ln w="27940">
            <a:solidFill>
              <a:srgbClr val="1F6F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22960" y="2953512"/>
            <a:ext cx="9144000" cy="25603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080" b="0">
                <a:solidFill>
                  <a:srgbClr val="5B6B7C"/>
                </a:solidFill>
                <a:latin typeface="Aptos"/>
              </a:rPr>
              <a:t>Return traffic follows the translated public session back through the ISP to the active edge, then to the originating user.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48640" y="3794760"/>
            <a:ext cx="2880360" cy="1572768"/>
          </a:xfrm>
          <a:prstGeom prst="roundRect">
            <a:avLst/>
          </a:prstGeom>
          <a:solidFill>
            <a:srgbClr val="F2F7FC"/>
          </a:solidFill>
          <a:ln w="1524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13232" y="3986784"/>
            <a:ext cx="25511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F6FEB"/>
                </a:solidFill>
                <a:latin typeface="Aptos"/>
              </a:rPr>
              <a:t>DEFAULT ROUTE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9536" y="4462272"/>
            <a:ext cx="225856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9232D"/>
                </a:solidFill>
                <a:latin typeface="Aptos"/>
              </a:rPr>
              <a:t>R-HO1 forwards external traffic toward the simulated ISP.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75887" y="3794760"/>
            <a:ext cx="2880360" cy="1572768"/>
          </a:xfrm>
          <a:prstGeom prst="roundRect">
            <a:avLst/>
          </a:prstGeom>
          <a:solidFill>
            <a:srgbClr val="EBF7F0"/>
          </a:solidFill>
          <a:ln w="15240">
            <a:solidFill>
              <a:srgbClr val="23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840479" y="3986784"/>
            <a:ext cx="25511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239669"/>
                </a:solidFill>
                <a:latin typeface="Aptos"/>
              </a:rPr>
              <a:t>PAT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4462272"/>
            <a:ext cx="225856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9232D"/>
                </a:solidFill>
                <a:latin typeface="Aptos"/>
              </a:rPr>
              <a:t>Private IP addresses are translated for outbound Internet access.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03136" y="3794760"/>
            <a:ext cx="2880360" cy="1572768"/>
          </a:xfrm>
          <a:prstGeom prst="roundRect">
            <a:avLst/>
          </a:prstGeom>
          <a:solidFill>
            <a:srgbClr val="FCF4F4"/>
          </a:solidFill>
          <a:ln w="15240">
            <a:solidFill>
              <a:srgbClr val="C0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967728" y="3986784"/>
            <a:ext cx="255117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C05A5A"/>
                </a:solidFill>
                <a:latin typeface="Aptos"/>
              </a:rPr>
              <a:t>BUSINESS RESULT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2" y="4462272"/>
            <a:ext cx="225856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>
                <a:solidFill>
                  <a:srgbClr val="19232D"/>
                </a:solidFill>
                <a:latin typeface="Aptos"/>
              </a:rPr>
              <a:t>Users reach external services while private IPs stay internal.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640080" y="411480"/>
            <a:ext cx="677121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2A4A"/>
                </a:solidFill>
              </a:defRPr>
            </a:pPr>
            <a:r>
              <a:rPr dirty="0"/>
              <a:t> Network Security &amp; Secure Management</a:t>
            </a:r>
          </a:p>
        </p:txBody>
      </p:sp>
      <p:sp>
        <p:nvSpPr>
          <p:cNvPr id="4" name="Oval"/>
          <p:cNvSpPr/>
          <p:nvPr/>
        </p:nvSpPr>
        <p:spPr>
          <a:xfrm>
            <a:off x="640080" y="1420000"/>
            <a:ext cx="260000" cy="2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"/>
          <p:cNvSpPr txBox="1"/>
          <p:nvPr/>
        </p:nvSpPr>
        <p:spPr>
          <a:xfrm>
            <a:off x="640080" y="1438000"/>
            <a:ext cx="26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"/>
          <p:cNvSpPr txBox="1"/>
          <p:nvPr/>
        </p:nvSpPr>
        <p:spPr>
          <a:xfrm>
            <a:off x="1020080" y="1420000"/>
            <a:ext cx="105315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dirty="0">
                <a:solidFill>
                  <a:srgbClr val="232D37"/>
                </a:solidFill>
              </a:rPr>
              <a:t>SSH provides secure, encrypted remote management of network devices.</a:t>
            </a:r>
          </a:p>
        </p:txBody>
      </p:sp>
      <p:sp>
        <p:nvSpPr>
          <p:cNvPr id="7" name="Oval"/>
          <p:cNvSpPr/>
          <p:nvPr/>
        </p:nvSpPr>
        <p:spPr>
          <a:xfrm>
            <a:off x="640080" y="1850000"/>
            <a:ext cx="260000" cy="2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"/>
          <p:cNvSpPr txBox="1"/>
          <p:nvPr/>
        </p:nvSpPr>
        <p:spPr>
          <a:xfrm>
            <a:off x="640080" y="1868000"/>
            <a:ext cx="26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"/>
          <p:cNvSpPr txBox="1"/>
          <p:nvPr/>
        </p:nvSpPr>
        <p:spPr>
          <a:xfrm>
            <a:off x="1020080" y="1850000"/>
            <a:ext cx="105315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dirty="0">
                <a:solidFill>
                  <a:srgbClr val="232D37"/>
                </a:solidFill>
              </a:rPr>
              <a:t>VLAN 99 is dedicated exclusively to management traffic, separated from user data.</a:t>
            </a:r>
          </a:p>
        </p:txBody>
      </p:sp>
      <p:sp>
        <p:nvSpPr>
          <p:cNvPr id="10" name="Oval"/>
          <p:cNvSpPr/>
          <p:nvPr/>
        </p:nvSpPr>
        <p:spPr>
          <a:xfrm>
            <a:off x="640080" y="2280000"/>
            <a:ext cx="260000" cy="2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"/>
          <p:cNvSpPr txBox="1"/>
          <p:nvPr/>
        </p:nvSpPr>
        <p:spPr>
          <a:xfrm>
            <a:off x="640080" y="2298000"/>
            <a:ext cx="26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"/>
          <p:cNvSpPr txBox="1"/>
          <p:nvPr/>
        </p:nvSpPr>
        <p:spPr>
          <a:xfrm>
            <a:off x="1020080" y="2280000"/>
            <a:ext cx="105315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dirty="0">
                <a:solidFill>
                  <a:srgbClr val="232D37"/>
                </a:solidFill>
              </a:rPr>
              <a:t>Port security with sticky MAC addresses restricts switch ports to authorized devices.</a:t>
            </a:r>
          </a:p>
        </p:txBody>
      </p:sp>
      <p:sp>
        <p:nvSpPr>
          <p:cNvPr id="13" name="Oval"/>
          <p:cNvSpPr/>
          <p:nvPr/>
        </p:nvSpPr>
        <p:spPr>
          <a:xfrm>
            <a:off x="640080" y="2710000"/>
            <a:ext cx="260000" cy="2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"/>
          <p:cNvSpPr txBox="1"/>
          <p:nvPr/>
        </p:nvSpPr>
        <p:spPr>
          <a:xfrm>
            <a:off x="640080" y="2728000"/>
            <a:ext cx="26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"/>
          <p:cNvSpPr txBox="1"/>
          <p:nvPr/>
        </p:nvSpPr>
        <p:spPr>
          <a:xfrm>
            <a:off x="1020080" y="2710000"/>
            <a:ext cx="105315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dirty="0">
                <a:solidFill>
                  <a:srgbClr val="232D37"/>
                </a:solidFill>
              </a:rPr>
              <a:t>Access-class restrictions limit which hosts can reach device management interfaces.</a:t>
            </a:r>
          </a:p>
        </p:txBody>
      </p:sp>
      <p:sp>
        <p:nvSpPr>
          <p:cNvPr id="16" name="Oval"/>
          <p:cNvSpPr/>
          <p:nvPr/>
        </p:nvSpPr>
        <p:spPr>
          <a:xfrm>
            <a:off x="640080" y="3140000"/>
            <a:ext cx="260000" cy="2600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"/>
          <p:cNvSpPr txBox="1"/>
          <p:nvPr/>
        </p:nvSpPr>
        <p:spPr>
          <a:xfrm>
            <a:off x="640080" y="3158000"/>
            <a:ext cx="260000" cy="23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"/>
          <p:cNvSpPr txBox="1"/>
          <p:nvPr/>
        </p:nvSpPr>
        <p:spPr>
          <a:xfrm>
            <a:off x="1020080" y="3140000"/>
            <a:ext cx="105315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dirty="0">
                <a:solidFill>
                  <a:srgbClr val="232D37"/>
                </a:solidFill>
              </a:rPr>
              <a:t>ACL-based traffic filtering enforces controlled communication between all VLANs.</a:t>
            </a:r>
          </a:p>
        </p:txBody>
      </p:sp>
      <p:sp>
        <p:nvSpPr>
          <p:cNvPr id="19" name="TextBox"/>
          <p:cNvSpPr txBox="1"/>
          <p:nvPr/>
        </p:nvSpPr>
        <p:spPr>
          <a:xfrm>
            <a:off x="640080" y="3780000"/>
            <a:ext cx="40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dirty="0">
                <a:solidFill>
                  <a:srgbClr val="112A4A"/>
                </a:solidFill>
              </a:rPr>
              <a:t>Security Layers</a:t>
            </a:r>
          </a:p>
        </p:txBody>
      </p:sp>
      <p:sp>
        <p:nvSpPr>
          <p:cNvPr id="20" name="RoundedRectangle"/>
          <p:cNvSpPr/>
          <p:nvPr/>
        </p:nvSpPr>
        <p:spPr>
          <a:xfrm>
            <a:off x="640080" y="4200000"/>
            <a:ext cx="1974307" cy="700000"/>
          </a:xfrm>
          <a:prstGeom prst="round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"/>
          <p:cNvSpPr txBox="1"/>
          <p:nvPr/>
        </p:nvSpPr>
        <p:spPr>
          <a:xfrm>
            <a:off x="640080" y="429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VLAN</a:t>
            </a:r>
          </a:p>
        </p:txBody>
      </p:sp>
      <p:sp>
        <p:nvSpPr>
          <p:cNvPr id="22" name="TextBox"/>
          <p:cNvSpPr txBox="1"/>
          <p:nvPr/>
        </p:nvSpPr>
        <p:spPr>
          <a:xfrm>
            <a:off x="640080" y="457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Segmentation</a:t>
            </a:r>
          </a:p>
        </p:txBody>
      </p:sp>
      <p:sp>
        <p:nvSpPr>
          <p:cNvPr id="23" name="Arrow"/>
          <p:cNvSpPr/>
          <p:nvPr/>
        </p:nvSpPr>
        <p:spPr>
          <a:xfrm>
            <a:off x="2632387" y="4460000"/>
            <a:ext cx="224000" cy="180000"/>
          </a:xfrm>
          <a:prstGeom prst="rightArrow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Rectangle"/>
          <p:cNvSpPr/>
          <p:nvPr/>
        </p:nvSpPr>
        <p:spPr>
          <a:xfrm>
            <a:off x="2874387" y="4200000"/>
            <a:ext cx="1974307" cy="700000"/>
          </a:xfrm>
          <a:prstGeom prst="roundRect">
            <a:avLst/>
          </a:prstGeom>
          <a:solidFill>
            <a:srgbClr val="23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"/>
          <p:cNvSpPr txBox="1"/>
          <p:nvPr/>
        </p:nvSpPr>
        <p:spPr>
          <a:xfrm>
            <a:off x="2874387" y="440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</a:rPr>
              <a:t>ACL</a:t>
            </a:r>
          </a:p>
        </p:txBody>
      </p:sp>
      <p:sp>
        <p:nvSpPr>
          <p:cNvPr id="26" name="Arrow"/>
          <p:cNvSpPr/>
          <p:nvPr/>
        </p:nvSpPr>
        <p:spPr>
          <a:xfrm>
            <a:off x="4866694" y="4460000"/>
            <a:ext cx="224000" cy="180000"/>
          </a:xfrm>
          <a:prstGeom prst="rightArrow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Rectangle"/>
          <p:cNvSpPr/>
          <p:nvPr/>
        </p:nvSpPr>
        <p:spPr>
          <a:xfrm>
            <a:off x="5108694" y="4200000"/>
            <a:ext cx="1974307" cy="700000"/>
          </a:xfrm>
          <a:prstGeom prst="roundRect">
            <a:avLst/>
          </a:prstGeom>
          <a:solidFill>
            <a:srgbClr val="8C5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"/>
          <p:cNvSpPr txBox="1"/>
          <p:nvPr/>
        </p:nvSpPr>
        <p:spPr>
          <a:xfrm>
            <a:off x="5108694" y="429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Port</a:t>
            </a:r>
          </a:p>
        </p:txBody>
      </p:sp>
      <p:sp>
        <p:nvSpPr>
          <p:cNvPr id="29" name="TextBox"/>
          <p:cNvSpPr txBox="1"/>
          <p:nvPr/>
        </p:nvSpPr>
        <p:spPr>
          <a:xfrm>
            <a:off x="5108694" y="457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 dirty="0">
                <a:solidFill>
                  <a:srgbClr val="FFFFFF"/>
                </a:solidFill>
              </a:rPr>
              <a:t>Security</a:t>
            </a:r>
          </a:p>
        </p:txBody>
      </p:sp>
      <p:sp>
        <p:nvSpPr>
          <p:cNvPr id="30" name="Arrow"/>
          <p:cNvSpPr/>
          <p:nvPr/>
        </p:nvSpPr>
        <p:spPr>
          <a:xfrm>
            <a:off x="7101001" y="4460000"/>
            <a:ext cx="224000" cy="180000"/>
          </a:xfrm>
          <a:prstGeom prst="rightArrow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Rectangle"/>
          <p:cNvSpPr/>
          <p:nvPr/>
        </p:nvSpPr>
        <p:spPr>
          <a:xfrm>
            <a:off x="7343001" y="4200000"/>
            <a:ext cx="1974307" cy="700000"/>
          </a:xfrm>
          <a:prstGeom prst="round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"/>
          <p:cNvSpPr txBox="1"/>
          <p:nvPr/>
        </p:nvSpPr>
        <p:spPr>
          <a:xfrm>
            <a:off x="7343001" y="440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</a:rPr>
              <a:t>SSH</a:t>
            </a:r>
          </a:p>
        </p:txBody>
      </p:sp>
      <p:sp>
        <p:nvSpPr>
          <p:cNvPr id="33" name="Arrow"/>
          <p:cNvSpPr/>
          <p:nvPr/>
        </p:nvSpPr>
        <p:spPr>
          <a:xfrm>
            <a:off x="9335308" y="4460000"/>
            <a:ext cx="224000" cy="180000"/>
          </a:xfrm>
          <a:prstGeom prst="rightArrow">
            <a:avLst/>
          </a:prstGeom>
          <a:solidFill>
            <a:srgbClr val="5B6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Rectangle"/>
          <p:cNvSpPr/>
          <p:nvPr/>
        </p:nvSpPr>
        <p:spPr>
          <a:xfrm>
            <a:off x="9577308" y="4200000"/>
            <a:ext cx="1974307" cy="700000"/>
          </a:xfrm>
          <a:prstGeom prst="roundRect">
            <a:avLst/>
          </a:prstGeom>
          <a:solidFill>
            <a:srgbClr val="11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"/>
          <p:cNvSpPr txBox="1"/>
          <p:nvPr/>
        </p:nvSpPr>
        <p:spPr>
          <a:xfrm>
            <a:off x="9577308" y="4400000"/>
            <a:ext cx="1974307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</a:rPr>
              <a:t>NAT / PAT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Practical controls that strengthen the proposed bank network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64008" cy="169164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95528" y="147218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95B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7592" y="147218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192551"/>
            <a:ext cx="2826873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Use ACLs and least-privilege rules to restrict unnecessary traffic.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32588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80560" y="1325880"/>
            <a:ext cx="64008" cy="169164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81728" y="147218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147218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Network 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192551"/>
            <a:ext cx="2794918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Keep departments and sensitive resources in separate VLANs/zones.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132588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366760" y="1325880"/>
            <a:ext cx="64008" cy="169164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67928" y="147218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6966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9992" y="147218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Secure Server 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22792" y="2192551"/>
            <a:ext cx="2718816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Limit database access to approved application and administrator paths.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347472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4360" y="3474720"/>
            <a:ext cx="64008" cy="1691640"/>
          </a:xfrm>
          <a:prstGeom prst="rect">
            <a:avLst/>
          </a:prstGeom>
          <a:solidFill>
            <a:srgbClr val="E0AA37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95528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E0AA37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362102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Monitoring &amp; Logging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" y="4341391"/>
            <a:ext cx="2826873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Monitor traffic, review logs, and investigate suspicious activity.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80560" y="347472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480560" y="3474720"/>
            <a:ext cx="64008" cy="1691640"/>
          </a:xfrm>
          <a:prstGeom prst="rect">
            <a:avLst/>
          </a:prstGeom>
          <a:solidFill>
            <a:srgbClr val="0F2341"/>
          </a:solidFill>
          <a:ln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681728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F2341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93792" y="362102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Backup &amp; Recovery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4341391"/>
            <a:ext cx="2910842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Maintain tested backups and recovery procedures for critical services.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66760" y="3474720"/>
            <a:ext cx="347472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366760" y="3474720"/>
            <a:ext cx="64008" cy="1691640"/>
          </a:xfrm>
          <a:prstGeom prst="rect">
            <a:avLst/>
          </a:prstGeom>
          <a:solidFill>
            <a:srgbClr val="BE4646"/>
          </a:solidFill>
          <a:ln>
            <a:solidFill>
              <a:srgbClr val="BE4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67928" y="362102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BE4646"/>
                </a:solidFill>
                <a:latin typeface="Apto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79992" y="3621024"/>
            <a:ext cx="253288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Change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2792" y="4341391"/>
            <a:ext cx="2770632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Document configuration changes and verify them after implementation.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"/>
            <a:ext cx="10332720" cy="56692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700" b="1">
                <a:solidFill>
                  <a:srgbClr val="0F2341"/>
                </a:solidFill>
                <a:latin typeface="Aptos"/>
              </a:rPr>
              <a:t>Benefits of the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786384"/>
            <a:ext cx="1005840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How the architecture supports banking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5120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371600"/>
            <a:ext cx="64008" cy="1234440"/>
          </a:xfrm>
          <a:prstGeom prst="rect">
            <a:avLst/>
          </a:prstGeom>
          <a:solidFill>
            <a:srgbClr val="195B96"/>
          </a:solidFill>
          <a:ln>
            <a:solidFill>
              <a:srgbClr val="195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51790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195B9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1517904"/>
            <a:ext cx="417880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Data Protection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1965960"/>
            <a:ext cx="4617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Improved protection of customer and financial data.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120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371600"/>
            <a:ext cx="64008" cy="1234440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64807" y="151790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08C96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76872" y="1517904"/>
            <a:ext cx="417880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Reduced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1965960"/>
            <a:ext cx="4617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Reduced impact of unauthorized access and network attacks.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26080"/>
            <a:ext cx="5120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31520" y="2926080"/>
            <a:ext cx="64008" cy="1234440"/>
          </a:xfrm>
          <a:prstGeom prst="rect">
            <a:avLst/>
          </a:prstGeom>
          <a:solidFill>
            <a:srgbClr val="26966E"/>
          </a:solidFill>
          <a:ln>
            <a:solidFill>
              <a:srgbClr val="269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2688" y="307238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26966E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4752" y="3072384"/>
            <a:ext cx="417880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Traffic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3520440"/>
            <a:ext cx="4617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Better control of internal and external traffic.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926080"/>
            <a:ext cx="5120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2926080"/>
            <a:ext cx="64008" cy="1234440"/>
          </a:xfrm>
          <a:prstGeom prst="rect">
            <a:avLst/>
          </a:prstGeom>
          <a:solidFill>
            <a:srgbClr val="E0AA37"/>
          </a:solidFill>
          <a:ln>
            <a:solidFill>
              <a:srgbClr val="E0A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64807" y="307238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E0AA37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76872" y="3072384"/>
            <a:ext cx="417880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Scalability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3520440"/>
            <a:ext cx="461772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050" b="0">
                <a:solidFill>
                  <a:srgbClr val="5F6C7B"/>
                </a:solidFill>
                <a:latin typeface="Aptos"/>
              </a:rPr>
              <a:t>Architecture can grow with future banking services.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480560"/>
            <a:ext cx="512064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DC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31520" y="4480560"/>
            <a:ext cx="64008" cy="1234440"/>
          </a:xfrm>
          <a:prstGeom prst="rect">
            <a:avLst/>
          </a:prstGeom>
          <a:solidFill>
            <a:srgbClr val="0F2341"/>
          </a:solidFill>
          <a:ln>
            <a:solidFill>
              <a:srgbClr val="0F23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32688" y="4626864"/>
            <a:ext cx="411480" cy="3200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200" b="1">
                <a:solidFill>
                  <a:srgbClr val="0F2341"/>
                </a:solidFill>
                <a:latin typeface="Apto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4752" y="4626864"/>
            <a:ext cx="4178807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400" b="1">
                <a:solidFill>
                  <a:srgbClr val="0F2341"/>
                </a:solidFill>
                <a:latin typeface="Aptos"/>
              </a:rPr>
              <a:t>Troubleshooting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5118631"/>
            <a:ext cx="4617720" cy="4154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dirty="0">
                <a:solidFill>
                  <a:srgbClr val="5F6C7B"/>
                </a:solidFill>
                <a:latin typeface="Aptos"/>
              </a:rPr>
              <a:t>Centralized monitoring and documented segmentation make issues easier to isolate.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486400"/>
            <a:ext cx="10607040" cy="530352"/>
          </a:xfrm>
          <a:prstGeom prst="roundRect">
            <a:avLst/>
          </a:prstGeom>
          <a:solidFill>
            <a:srgbClr val="F2F6FA"/>
          </a:solidFill>
          <a:ln>
            <a:solidFill>
              <a:srgbClr val="F2F6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59552"/>
            <a:ext cx="10241280" cy="34747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100" b="1">
                <a:solidFill>
                  <a:srgbClr val="0F2341"/>
                </a:solidFill>
                <a:latin typeface="Aptos"/>
              </a:rPr>
              <a:t>Business outcome: secure access without unnecessary complexity.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3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34440" y="365760"/>
            <a:ext cx="9875520" cy="5943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102412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Aptos"/>
              </a:rPr>
              <a:t>A secure bank network requires layered security.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2412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0">
                <a:solidFill>
                  <a:srgbClr val="D2E1F0"/>
                </a:solidFill>
                <a:latin typeface="Aptos"/>
              </a:rPr>
              <a:t>Segmentation and access control limit unnecessary exposure.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10241280" cy="5029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700" b="0">
                <a:solidFill>
                  <a:srgbClr val="D2E1F0"/>
                </a:solidFill>
                <a:latin typeface="Aptos"/>
              </a:rPr>
              <a:t>The proposed design balances security, reliability, and scalability.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65960" y="4251960"/>
            <a:ext cx="8275320" cy="914400"/>
          </a:xfrm>
          <a:prstGeom prst="roundRect">
            <a:avLst/>
          </a:prstGeom>
          <a:solidFill>
            <a:srgbClr val="18375C"/>
          </a:solidFill>
          <a:ln>
            <a:solidFill>
              <a:srgbClr val="376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4462272"/>
            <a:ext cx="7909560" cy="4572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400" b="1">
                <a:solidFill>
                  <a:srgbClr val="008C96"/>
                </a:solidFill>
                <a:latin typeface="Aptos"/>
              </a:rPr>
              <a:t>CONFIDENTIALITY   •   INTEGRITY   •   AVAILABILITY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8C96"/>
          </a:solidFill>
          <a:ln>
            <a:solidFill>
              <a:srgbClr val="008C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057400"/>
            <a:ext cx="10744200" cy="822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3800" b="1">
                <a:solidFill>
                  <a:srgbClr val="0F2341"/>
                </a:solidFill>
                <a:latin typeface="Aptos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9966960" cy="4114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500" b="0">
                <a:solidFill>
                  <a:srgbClr val="5F6C7B"/>
                </a:solidFill>
                <a:latin typeface="Aptos"/>
              </a:rPr>
              <a:t>Secure Bank Network — Network Design &amp; Security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473952"/>
            <a:ext cx="914400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800" b="0">
                <a:solidFill>
                  <a:srgbClr val="5F6C7B"/>
                </a:solidFill>
                <a:latin typeface="Aptos"/>
              </a:rPr>
              <a:t>SECURE BANK NETWORK  •  Network Design &amp; Security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1160</Words>
  <Application>Microsoft Office PowerPoint</Application>
  <PresentationFormat>Widescreen</PresentationFormat>
  <Paragraphs>236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MANISHA CHAUDHARI</cp:lastModifiedBy>
  <cp:revision>10</cp:revision>
  <dcterms:created xsi:type="dcterms:W3CDTF">2013-01-27T09:14:16Z</dcterms:created>
  <dcterms:modified xsi:type="dcterms:W3CDTF">2026-08-11T09:50:43Z</dcterms:modified>
  <cp:category/>
</cp:coreProperties>
</file>